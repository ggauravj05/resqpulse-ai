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Poppi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Y4TzdZsGBCSowIKvnNwJAhkWn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Inter-regular.fntdata"/><Relationship Id="rId15" Type="http://schemas.openxmlformats.org/officeDocument/2006/relationships/font" Target="fonts/Inter-bold.fntdata"/><Relationship Id="rId16" Type="http://schemas.openxmlformats.org/officeDocument/2006/relationships/font" Target="fonts/Inter-italic.fntdata"/><Relationship Id="rId17" Type="http://schemas.openxmlformats.org/officeDocument/2006/relationships/font" Target="fonts/Inter-boldItalic.fntdata"/><Relationship Id="rId18" Type="http://schemas.openxmlformats.org/officeDocument/2006/relationships/font" Target="fonts/Poppins-regular.fntdata"/><Relationship Id="rId19" Type="http://schemas.openxmlformats.org/officeDocument/2006/relationships/font" Target="fonts/Poppins-bold.fntdata"/><Relationship Id="rId20" Type="http://schemas.openxmlformats.org/officeDocument/2006/relationships/font" Target="fonts/Poppins-italic.fntdata"/><Relationship Id="rId21" Type="http://schemas.openxmlformats.org/officeDocument/2006/relationships/font" Target="fonts/Poppins-boldItalic.fntdata"/><Relationship Id="rId2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jpg"/><Relationship Id="rId6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76900" y="1071477"/>
            <a:ext cx="11201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95300" y="6229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70179" y="1170319"/>
            <a:ext cx="11201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95300" y="622935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95300" y="2471737"/>
            <a:ext cx="5486400" cy="2362200"/>
          </a:xfrm>
          <a:prstGeom prst="roundRect">
            <a:avLst>
              <a:gd fmla="val 3225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210300" y="2471737"/>
            <a:ext cx="5486400" cy="2362200"/>
          </a:xfrm>
          <a:prstGeom prst="roundRect">
            <a:avLst>
              <a:gd fmla="val 3225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71525" y="2947987"/>
            <a:ext cx="493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486525" y="2947987"/>
            <a:ext cx="493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771775" y="3109912"/>
            <a:ext cx="2933700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2771775" y="3605212"/>
            <a:ext cx="2933700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2771775" y="4100512"/>
            <a:ext cx="2933700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8486775" y="3109912"/>
            <a:ext cx="2933700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8486775" y="3605212"/>
            <a:ext cx="2933700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0820400" y="6353175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Slide 01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319498" y="1198150"/>
            <a:ext cx="570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Department of Computer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71525" y="2709862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1. PROBLEM STATEMENT DETAILS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6486525" y="2709862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2. TEAM SUBMISSION DETAILS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771525" y="3195637"/>
            <a:ext cx="2500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 Statement ID: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2886075" y="3186112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771525" y="3690937"/>
            <a:ext cx="2500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 Title: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886075" y="3681412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EmergencyScribe (ResQPulse AI)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71525" y="4186237"/>
            <a:ext cx="2500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Domain Theme: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2886075" y="4176712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Generative AI / Public Safety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486525" y="3195637"/>
            <a:ext cx="250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Team No: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601075" y="3186112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6486525" y="3690937"/>
            <a:ext cx="250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Team Member Names: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601075" y="3681412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Gaurav Jadhav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" title="ChatGPT Image Oct 15, 2026, 12_41_51 AM.png"/>
          <p:cNvPicPr preferRelativeResize="0"/>
          <p:nvPr/>
        </p:nvPicPr>
        <p:blipFill rotWithShape="1">
          <a:blip r:embed="rId3">
            <a:alphaModFix/>
          </a:blip>
          <a:srcRect b="26944" l="0" r="0" t="26944"/>
          <a:stretch/>
        </p:blipFill>
        <p:spPr>
          <a:xfrm>
            <a:off x="2628830" y="86850"/>
            <a:ext cx="6694651" cy="103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0408" y="57135"/>
            <a:ext cx="101917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 txBox="1"/>
          <p:nvPr/>
        </p:nvSpPr>
        <p:spPr>
          <a:xfrm>
            <a:off x="4466123" y="1601526"/>
            <a:ext cx="3708600" cy="2859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Hackathon - GenHack V1.0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3429000" y="5091106"/>
            <a:ext cx="5486400" cy="1031100"/>
          </a:xfrm>
          <a:prstGeom prst="roundRect">
            <a:avLst>
              <a:gd fmla="val 3225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3624425" y="5209472"/>
            <a:ext cx="5029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3. SUSTAINABLE DEVELOPMENT 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3729489" y="5573898"/>
            <a:ext cx="250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SDG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4795298" y="5500687"/>
            <a:ext cx="2933700" cy="36210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4948144" y="5555308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SDG 11.5 · 3.6 · 13.1 · 16.1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/>
          <p:nvPr/>
        </p:nvSpPr>
        <p:spPr>
          <a:xfrm>
            <a:off x="495300" y="342900"/>
            <a:ext cx="112014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95300" y="6229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495300" y="1057275"/>
            <a:ext cx="11201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495300" y="622935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495300" y="6353175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Team P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10801350" y="6353175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02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1167556" y="342900"/>
            <a:ext cx="62150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SECTION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1167556" y="523875"/>
            <a:ext cx="53206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PROPOSED SOLUTION &amp; INNOVATION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3" title="110b2eab-5352-4831-9ee3-deb85c4bbeef_workshops--1-.png"/>
          <p:cNvPicPr preferRelativeResize="0"/>
          <p:nvPr/>
        </p:nvPicPr>
        <p:blipFill rotWithShape="1">
          <a:blip r:embed="rId5">
            <a:alphaModFix/>
          </a:blip>
          <a:srcRect b="0" l="4841" r="4841" t="0"/>
          <a:stretch/>
        </p:blipFill>
        <p:spPr>
          <a:xfrm>
            <a:off x="267658" y="161763"/>
            <a:ext cx="734775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" title="WhatsApp Image 2026-10-03 at 11.28.59 PM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103" y="143191"/>
            <a:ext cx="807352" cy="807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Rounded Rectangle 185"/>
          <p:cNvSpPr/>
          <p:nvPr/>
        </p:nvSpPr>
        <p:spPr>
          <a:xfrm>
            <a:off x="493776" y="1298448"/>
            <a:ext cx="5989320" cy="47091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22376" y="1298448"/>
            <a:ext cx="822960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713232" y="1481328"/>
            <a:ext cx="5486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Poppins"/>
              </a:rPr>
              <a:t>Solution Overview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13232" y="1901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125" b="1">
                <a:solidFill>
                  <a:srgbClr val="0F172A"/>
                </a:solidFill>
                <a:latin typeface="Inter"/>
              </a:rPr>
              <a:t>Core Concept &amp; Approach: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13232" y="2212848"/>
            <a:ext cx="55778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55448" indent="-155448">
              <a:spcBef>
                <a:spcPts val="0"/>
              </a:spcBef>
              <a:buClr>
                <a:srgbClr val="C5221F"/>
              </a:buClr>
              <a:buChar char="•"/>
            </a:pPr>
            <a:r>
              <a:rPr sz="1350" b="1">
                <a:solidFill>
                  <a:srgbClr val="0F172A"/>
                </a:solidFill>
                <a:latin typeface="Inter"/>
              </a:rPr>
              <a:t>One alert from one messy report. </a:t>
            </a:r>
            <a:r>
              <a:rPr sz="1350" b="0">
                <a:solidFill>
                  <a:srgbClr val="1E293B"/>
                </a:solidFill>
                <a:latin typeface="Inter"/>
              </a:rPr>
              <a:t>ResQPulse AI turns an emergency report, typed or spoken, into a structured, prioritised, explainable alert for a 112 dispatcher.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50" b="1">
                <a:solidFill>
                  <a:srgbClr val="0F172A"/>
                </a:solidFill>
                <a:latin typeface="Inter"/>
              </a:rPr>
              <a:t>Three models, one pipeline. </a:t>
            </a:r>
            <a:r>
              <a:rPr sz="1350" b="0">
                <a:solidFill>
                  <a:srgbClr val="1E293B"/>
                </a:solidFill>
                <a:latin typeface="Inter"/>
              </a:rPr>
              <a:t>Whisper transcribes the voice, DistilBERT classifies the incident (8 types) and scores severity 1 to 5, Flan-T5 extracts location, people, injuries, hazards and a summary.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50" b="1">
                <a:solidFill>
                  <a:srgbClr val="0F172A"/>
                </a:solidFill>
                <a:latin typeface="Inter"/>
              </a:rPr>
              <a:t>Built for the dispatcher. </a:t>
            </a:r>
            <a:r>
              <a:rPr sz="1350" b="0">
                <a:solidFill>
                  <a:srgbClr val="1E293B"/>
                </a:solidFill>
                <a:latin typeface="Inter"/>
              </a:rPr>
              <a:t>Severity-sorted queue, map pins, suggested responders and SDG tags. A human confirms, dispatches or dismisses every alert.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50" b="1">
                <a:solidFill>
                  <a:srgbClr val="0F172A"/>
                </a:solidFill>
                <a:latin typeface="Inter"/>
              </a:rPr>
              <a:t>Working prototype. </a:t>
            </a:r>
            <a:r>
              <a:rPr sz="1350" b="0">
                <a:solidFill>
                  <a:srgbClr val="1E293B"/>
                </a:solidFill>
                <a:latin typeface="Inter"/>
              </a:rPr>
              <a:t>FastAPI backend and Streamlit app running real models offline on a laptop, tested end to end with typed and voice input.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629400" y="1298448"/>
            <a:ext cx="5065776" cy="47091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858000" y="1298448"/>
            <a:ext cx="822960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858000" y="1481328"/>
            <a:ext cx="45720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Poppins"/>
              </a:rPr>
              <a:t>Innovation &amp; Uniqueness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858000" y="1901952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125" b="1">
                <a:solidFill>
                  <a:srgbClr val="0F172A"/>
                </a:solidFill>
                <a:latin typeface="Inter"/>
              </a:rPr>
              <a:t>Key Differentiators: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858000" y="2212848"/>
            <a:ext cx="46634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55448" indent="-155448">
              <a:spcBef>
                <a:spcPts val="0"/>
              </a:spcBef>
              <a:buClr>
                <a:srgbClr val="C5221F"/>
              </a:buClr>
              <a:buChar char="•"/>
            </a:pPr>
            <a:r>
              <a:rPr sz="1350" b="1">
                <a:solidFill>
                  <a:srgbClr val="0F172A"/>
                </a:solidFill>
                <a:latin typeface="Inter"/>
              </a:rPr>
              <a:t>A full alert, not just a label: </a:t>
            </a:r>
            <a:r>
              <a:rPr sz="1350" b="0">
                <a:solidFill>
                  <a:srgbClr val="1E293B"/>
                </a:solidFill>
                <a:latin typeface="Inter"/>
              </a:rPr>
              <a:t>type, continuous severity, fields and summary.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50" b="1">
                <a:solidFill>
                  <a:srgbClr val="0F172A"/>
                </a:solidFill>
                <a:latin typeface="Inter"/>
              </a:rPr>
              <a:t>Explainable: </a:t>
            </a:r>
            <a:r>
              <a:rPr sz="1350" b="0">
                <a:solidFill>
                  <a:srgbClr val="1E293B"/>
                </a:solidFill>
                <a:latin typeface="Inter"/>
              </a:rPr>
              <a:t>an attention heatmap shows which words drove the decision.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50" b="1">
                <a:solidFill>
                  <a:srgbClr val="0F172A"/>
                </a:solidFill>
                <a:latin typeface="Inter"/>
              </a:rPr>
              <a:t>Voice in: </a:t>
            </a:r>
            <a:r>
              <a:rPr sz="1350" b="0">
                <a:solidFill>
                  <a:srgbClr val="1E293B"/>
                </a:solidFill>
                <a:latin typeface="Inter"/>
              </a:rPr>
              <a:t>editable transcript so the dispatcher can fix a misheard word.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50" b="1">
                <a:solidFill>
                  <a:srgbClr val="0F172A"/>
                </a:solidFill>
                <a:latin typeface="Inter"/>
              </a:rPr>
              <a:t>Duplicate reports flagged </a:t>
            </a:r>
            <a:r>
              <a:rPr sz="1350" b="0">
                <a:solidFill>
                  <a:srgbClr val="1E293B"/>
                </a:solidFill>
                <a:latin typeface="Inter"/>
              </a:rPr>
              <a:t>so ten messages about one fire do not become ten alerts.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50" b="1">
                <a:solidFill>
                  <a:srgbClr val="0F172A"/>
                </a:solidFill>
                <a:latin typeface="Inter"/>
              </a:rPr>
              <a:t>Small models, no cloud: </a:t>
            </a:r>
            <a:r>
              <a:rPr sz="1350" b="0">
                <a:solidFill>
                  <a:srgbClr val="1E293B"/>
                </a:solidFill>
                <a:latin typeface="Inter"/>
              </a:rPr>
              <a:t>DistilBERT and Flan-T5-base run offline.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50" b="1">
                <a:solidFill>
                  <a:srgbClr val="0F172A"/>
                </a:solidFill>
                <a:latin typeface="Inter"/>
              </a:rPr>
              <a:t>Honest evaluation: </a:t>
            </a:r>
            <a:r>
              <a:rPr sz="1350" b="0">
                <a:solidFill>
                  <a:srgbClr val="1E293B"/>
                </a:solidFill>
                <a:latin typeface="Inter"/>
              </a:rPr>
              <a:t>scored on 144 real reports the models never saw.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/>
          <p:nvPr/>
        </p:nvSpPr>
        <p:spPr>
          <a:xfrm>
            <a:off x="495300" y="342900"/>
            <a:ext cx="112014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495300" y="6229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495300" y="1057275"/>
            <a:ext cx="11201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495300" y="622935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495300" y="6353175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Team P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10801350" y="6353175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03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1167556" y="342900"/>
            <a:ext cx="6858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SECTION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1167556" y="523875"/>
            <a:ext cx="586073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TECHNICAL APPROACH &amp;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4" title="110b2eab-5352-4831-9ee3-deb85c4bbeef_workshops--1-.png"/>
          <p:cNvPicPr preferRelativeResize="0"/>
          <p:nvPr/>
        </p:nvPicPr>
        <p:blipFill rotWithShape="1">
          <a:blip r:embed="rId5">
            <a:alphaModFix/>
          </a:blip>
          <a:srcRect b="0" l="4841" r="4841" t="0"/>
          <a:stretch/>
        </p:blipFill>
        <p:spPr>
          <a:xfrm>
            <a:off x="288032" y="146792"/>
            <a:ext cx="732609" cy="8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 title="WhatsApp Image 2026-10-03 at 11.28.59 PM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103" y="134319"/>
            <a:ext cx="807352" cy="807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Rounded Rectangle 221"/>
          <p:cNvSpPr/>
          <p:nvPr/>
        </p:nvSpPr>
        <p:spPr>
          <a:xfrm>
            <a:off x="493776" y="1298448"/>
            <a:ext cx="4160520" cy="47091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2376" y="1298448"/>
            <a:ext cx="822960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13232" y="1481328"/>
            <a:ext cx="3657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Poppins"/>
              </a:rPr>
              <a:t>Technology Stack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13232" y="1965960"/>
            <a:ext cx="3749039" cy="3931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55448" indent="-155448">
              <a:spcBef>
                <a:spcPts val="0"/>
              </a:spcBef>
              <a:buClr>
                <a:srgbClr val="C5221F"/>
              </a:buClr>
              <a:buChar char="•"/>
            </a:pPr>
            <a:r>
              <a:rPr sz="1300" b="1">
                <a:solidFill>
                  <a:srgbClr val="0F172A"/>
                </a:solidFill>
                <a:latin typeface="Inter"/>
              </a:rPr>
              <a:t>Frontend: </a:t>
            </a:r>
            <a:r>
              <a:rPr sz="1300" b="0">
                <a:solidFill>
                  <a:srgbClr val="1E293B"/>
                </a:solidFill>
                <a:latin typeface="Inter"/>
              </a:rPr>
              <a:t>Streamlit, Folium map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00" b="1">
                <a:solidFill>
                  <a:srgbClr val="0F172A"/>
                </a:solidFill>
                <a:latin typeface="Inter"/>
              </a:rPr>
              <a:t>Backend: </a:t>
            </a:r>
            <a:r>
              <a:rPr sz="1300" b="0">
                <a:solidFill>
                  <a:srgbClr val="1E293B"/>
                </a:solidFill>
                <a:latin typeface="Inter"/>
              </a:rPr>
              <a:t>Python FastAPI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00" b="1">
                <a:solidFill>
                  <a:srgbClr val="0F172A"/>
                </a:solidFill>
                <a:latin typeface="Inter"/>
              </a:rPr>
              <a:t>Database: </a:t>
            </a:r>
            <a:r>
              <a:rPr sz="1300" b="0">
                <a:solidFill>
                  <a:srgbClr val="1E293B"/>
                </a:solidFill>
                <a:latin typeface="Inter"/>
              </a:rPr>
              <a:t>in-memory store with JSONL logs for alerts and dispatcher corrections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00" b="1">
                <a:solidFill>
                  <a:srgbClr val="0F172A"/>
                </a:solidFill>
                <a:latin typeface="Inter"/>
              </a:rPr>
              <a:t>Hardware/IoT: </a:t>
            </a:r>
            <a:r>
              <a:rPr sz="1300" b="0">
                <a:solidFill>
                  <a:srgbClr val="1E293B"/>
                </a:solidFill>
                <a:latin typeface="Inter"/>
              </a:rPr>
              <a:t>none, runs on a laptop with a microphone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00" b="1">
                <a:solidFill>
                  <a:srgbClr val="0F172A"/>
                </a:solidFill>
                <a:latin typeface="Inter"/>
              </a:rPr>
              <a:t>AI / Cloud: </a:t>
            </a:r>
            <a:r>
              <a:rPr sz="1300" b="0">
                <a:solidFill>
                  <a:srgbClr val="1E293B"/>
                </a:solidFill>
                <a:latin typeface="Inter"/>
              </a:rPr>
              <a:t>PyTorch and Hugging Face: DistilBERT, Flan-T5-base, faster-whisper small.en, MiniLM duplicate check; scikit-learn baseline; trained on Kaggle T4 GPUs</a:t>
            </a:r>
          </a:p>
          <a:p>
            <a:pPr marL="155448" indent="-155448">
              <a:spcBef>
                <a:spcPts val="500"/>
              </a:spcBef>
              <a:buClr>
                <a:srgbClr val="C5221F"/>
              </a:buClr>
              <a:buChar char="•"/>
            </a:pPr>
            <a:r>
              <a:rPr sz="1300" b="1">
                <a:solidFill>
                  <a:srgbClr val="0F172A"/>
                </a:solidFill>
                <a:latin typeface="Inter"/>
              </a:rPr>
              <a:t>Maps: </a:t>
            </a:r>
            <a:r>
              <a:rPr sz="1300" b="0">
                <a:solidFill>
                  <a:srgbClr val="1E293B"/>
                </a:solidFill>
                <a:latin typeface="Inter"/>
              </a:rPr>
              <a:t>offline gazetteer, OpenStreetMap Nominatim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4800600" y="1298448"/>
            <a:ext cx="6894576" cy="47091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029200" y="1298448"/>
            <a:ext cx="822960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5029200" y="1481328"/>
            <a:ext cx="6400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Poppins"/>
              </a:rPr>
              <a:t>System Architecture / Flow Diagram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5029200" y="2103120"/>
            <a:ext cx="14173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5074920" y="2176272"/>
            <a:ext cx="1325880" cy="13990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F172A"/>
                </a:solidFill>
                <a:latin typeface="Poppins"/>
              </a:rPr>
              <a:t>Typed report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Text from the call taker or a message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5029200" y="3840480"/>
            <a:ext cx="14173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074920" y="3913632"/>
            <a:ext cx="1325880" cy="13990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F172A"/>
                </a:solidFill>
                <a:latin typeface="Poppins"/>
              </a:rPr>
              <a:t>Voice call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Whisper small.en turns speech into text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Dispatcher can edit it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6720840" y="2103120"/>
            <a:ext cx="14173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5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766559" y="2176272"/>
            <a:ext cx="1325880" cy="13990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F172A"/>
                </a:solidFill>
                <a:latin typeface="Poppins"/>
              </a:rPr>
              <a:t>DistilBERT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Incident type (8 classes)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Severity 1 to 5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Attention heatmap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720840" y="3840480"/>
            <a:ext cx="14173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5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6766559" y="3913632"/>
            <a:ext cx="1325880" cy="13990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F172A"/>
                </a:solidFill>
                <a:latin typeface="Poppins"/>
              </a:rPr>
              <a:t>Flan-T5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Location, people, injuries, hazards, summary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8412480" y="2103120"/>
            <a:ext cx="1417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8458200" y="2176272"/>
            <a:ext cx="1325880" cy="31363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F172A"/>
                </a:solidFill>
                <a:latin typeface="Poppins"/>
              </a:rPr>
              <a:t>FastAPI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Builds the alert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Geocodes the place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Suggests responders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Tags SDGs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Flags duplicates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Logs corrections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0104120" y="2103120"/>
            <a:ext cx="1417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0149840" y="2176272"/>
            <a:ext cx="1325880" cy="31363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F172A"/>
                </a:solidFill>
                <a:latin typeface="Poppins"/>
              </a:rPr>
              <a:t>Streamlit dashboard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Alert card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Attention heatmap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Severity-sorted queue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Incident map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34155"/>
                </a:solidFill>
                <a:latin typeface="Inter"/>
              </a:rPr>
              <a:t>Confirm, dispatch or dismiss</a:t>
            </a:r>
          </a:p>
        </p:txBody>
      </p:sp>
      <p:sp>
        <p:nvSpPr>
          <p:cNvPr id="241" name="Right Arrow 240"/>
          <p:cNvSpPr/>
          <p:nvPr/>
        </p:nvSpPr>
        <p:spPr>
          <a:xfrm>
            <a:off x="6483096" y="2747772"/>
            <a:ext cx="201167" cy="219456"/>
          </a:xfrm>
          <a:prstGeom prst="rightArrow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ight Arrow 241"/>
          <p:cNvSpPr/>
          <p:nvPr/>
        </p:nvSpPr>
        <p:spPr>
          <a:xfrm>
            <a:off x="6483096" y="4485132"/>
            <a:ext cx="201167" cy="219456"/>
          </a:xfrm>
          <a:prstGeom prst="rightArrow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ight Arrow 242"/>
          <p:cNvSpPr/>
          <p:nvPr/>
        </p:nvSpPr>
        <p:spPr>
          <a:xfrm>
            <a:off x="8174736" y="2747772"/>
            <a:ext cx="201167" cy="219456"/>
          </a:xfrm>
          <a:prstGeom prst="rightArrow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ight Arrow 243"/>
          <p:cNvSpPr/>
          <p:nvPr/>
        </p:nvSpPr>
        <p:spPr>
          <a:xfrm>
            <a:off x="8174736" y="4485132"/>
            <a:ext cx="201167" cy="219456"/>
          </a:xfrm>
          <a:prstGeom prst="rightArrow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ight Arrow 244"/>
          <p:cNvSpPr/>
          <p:nvPr/>
        </p:nvSpPr>
        <p:spPr>
          <a:xfrm>
            <a:off x="9866376" y="2971799"/>
            <a:ext cx="201167" cy="219456"/>
          </a:xfrm>
          <a:prstGeom prst="rightArrow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5029200" y="553212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Inter"/>
              </a:rPr>
              <a:t>Typed reports go to both models; voice goes through Whisper first. A human reviews every alert.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/>
          <p:nvPr/>
        </p:nvSpPr>
        <p:spPr>
          <a:xfrm>
            <a:off x="495300" y="342900"/>
            <a:ext cx="112014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95300" y="6229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95300" y="1057275"/>
            <a:ext cx="11201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495300" y="622935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495300" y="6353175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Team P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10810875" y="6353175"/>
            <a:ext cx="1171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04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1167556" y="342900"/>
            <a:ext cx="52744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SECTION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1167546" y="523875"/>
            <a:ext cx="722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METHODOLOGY AND MEASURABLE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5" title="110b2eab-5352-4831-9ee3-deb85c4bbeef_workshops--1-.png"/>
          <p:cNvPicPr preferRelativeResize="0"/>
          <p:nvPr/>
        </p:nvPicPr>
        <p:blipFill rotWithShape="1">
          <a:blip r:embed="rId5">
            <a:alphaModFix/>
          </a:blip>
          <a:srcRect b="0" l="4841" r="4841" t="0"/>
          <a:stretch/>
        </p:blipFill>
        <p:spPr>
          <a:xfrm>
            <a:off x="296012" y="152521"/>
            <a:ext cx="734775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 title="WhatsApp Image 2026-10-03 at 11.28.59 PM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103" y="143191"/>
            <a:ext cx="807352" cy="807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Rounded Rectangle 253"/>
          <p:cNvSpPr/>
          <p:nvPr/>
        </p:nvSpPr>
        <p:spPr>
          <a:xfrm>
            <a:off x="493776" y="1298448"/>
            <a:ext cx="6355080" cy="47091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722376" y="1298448"/>
            <a:ext cx="822960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13232" y="1481328"/>
            <a:ext cx="58521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Poppins"/>
              </a:rPr>
              <a:t>Methodology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13232" y="1938528"/>
            <a:ext cx="5943600" cy="39776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55448" indent="-155448">
              <a:spcBef>
                <a:spcPts val="0"/>
              </a:spcBef>
              <a:buClr>
                <a:srgbClr val="C5221F"/>
              </a:buClr>
              <a:buChar char="•"/>
            </a:pPr>
            <a:r>
              <a:rPr sz="1250" b="1">
                <a:solidFill>
                  <a:srgbClr val="0F172A"/>
                </a:solidFill>
                <a:latin typeface="Inter"/>
              </a:rPr>
              <a:t>1. Data. </a:t>
            </a:r>
            <a:r>
              <a:rPr sz="1250" b="0">
                <a:solidFill>
                  <a:srgbClr val="1E293B"/>
                </a:solidFill>
                <a:latin typeface="Inter"/>
              </a:rPr>
              <a:t>Real crisis tweets (HumAID, CrisisLexT26, Kaggle negatives, about 37,000 after cleaning) plus 710 call-style reports written by Claude, with a fixed schema: 8 incident types, severity 1 to 5.</a:t>
            </a:r>
          </a:p>
          <a:p>
            <a:pPr marL="155448" indent="-155448">
              <a:spcBef>
                <a:spcPts val="600"/>
              </a:spcBef>
              <a:buClr>
                <a:srgbClr val="C5221F"/>
              </a:buClr>
              <a:buChar char="•"/>
            </a:pPr>
            <a:r>
              <a:rPr sz="1250" b="1">
                <a:solidFill>
                  <a:srgbClr val="0F172A"/>
                </a:solidFill>
                <a:latin typeface="Inter"/>
              </a:rPr>
              <a:t>2. Train. </a:t>
            </a:r>
            <a:r>
              <a:rPr sz="1250" b="0">
                <a:solidFill>
                  <a:srgbClr val="1E293B"/>
                </a:solidFill>
                <a:latin typeface="Inter"/>
              </a:rPr>
              <a:t>DistilBERT with two heads (type: cross-entropy, severity: masked MSE). Flan-T5-base fine-tuned to write the alert fields. TF-IDF + logistic regression as the baseline.</a:t>
            </a:r>
          </a:p>
          <a:p>
            <a:pPr marL="155448" indent="-155448">
              <a:spcBef>
                <a:spcPts val="600"/>
              </a:spcBef>
              <a:buClr>
                <a:srgbClr val="C5221F"/>
              </a:buClr>
              <a:buChar char="•"/>
            </a:pPr>
            <a:r>
              <a:rPr sz="1250" b="1">
                <a:solidFill>
                  <a:srgbClr val="0F172A"/>
                </a:solidFill>
                <a:latin typeface="Inter"/>
              </a:rPr>
              <a:t>3. Serve. </a:t>
            </a:r>
            <a:r>
              <a:rPr sz="1250" b="0">
                <a:solidFill>
                  <a:srgbClr val="1E293B"/>
                </a:solidFill>
                <a:latin typeface="Inter"/>
              </a:rPr>
              <a:t>Whisper, then classify with attention rollout, then extract fields (retry, rule fallback, people-count rule), then geocode, suggest responders and check for duplicates.</a:t>
            </a:r>
          </a:p>
          <a:p>
            <a:pPr marL="155448" indent="-155448">
              <a:spcBef>
                <a:spcPts val="600"/>
              </a:spcBef>
              <a:buClr>
                <a:srgbClr val="C5221F"/>
              </a:buClr>
              <a:buChar char="•"/>
            </a:pPr>
            <a:r>
              <a:rPr sz="1250" b="1">
                <a:solidFill>
                  <a:srgbClr val="0F172A"/>
                </a:solidFill>
                <a:latin typeface="Inter"/>
              </a:rPr>
              <a:t>4. Evaluate. </a:t>
            </a:r>
            <a:r>
              <a:rPr sz="1250" b="0">
                <a:solidFill>
                  <a:srgbClr val="1E293B"/>
                </a:solidFill>
                <a:latin typeface="Inter"/>
              </a:rPr>
              <a:t>One script on held-out sets: 107 call-style reports, 7,755 real tweets (6 crises never seen) and a 144-report gold set audited by a person.</a:t>
            </a:r>
          </a:p>
          <a:p>
            <a:pPr marL="155448" indent="-155448">
              <a:spcBef>
                <a:spcPts val="600"/>
              </a:spcBef>
              <a:buClr>
                <a:srgbClr val="C5221F"/>
              </a:buClr>
              <a:buChar char="•"/>
            </a:pPr>
            <a:r>
              <a:rPr sz="1250" b="1">
                <a:solidFill>
                  <a:srgbClr val="0F172A"/>
                </a:solidFill>
                <a:latin typeface="Inter"/>
              </a:rPr>
              <a:t>5. Human in the loop. </a:t>
            </a:r>
            <a:r>
              <a:rPr sz="1250" b="0">
                <a:solidFill>
                  <a:srgbClr val="1E293B"/>
                </a:solidFill>
                <a:latin typeface="Inter"/>
              </a:rPr>
              <a:t>The dispatcher confirms, dispatches or dismisses; every correction is logged for later learning.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6995160" y="1298448"/>
            <a:ext cx="4700016" cy="47091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7223760" y="1298448"/>
            <a:ext cx="822960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7223760" y="1481328"/>
            <a:ext cx="420624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Poppins"/>
              </a:rPr>
              <a:t>Measurable Impact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223760" y="2011680"/>
            <a:ext cx="1234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2000" b="1">
                <a:solidFill>
                  <a:srgbClr val="C5221F"/>
                </a:solidFill>
                <a:latin typeface="Poppins"/>
              </a:rPr>
              <a:t>91%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8503920" y="2057400"/>
            <a:ext cx="3063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1E293B"/>
                </a:solidFill>
                <a:latin typeface="Inter"/>
              </a:rPr>
              <a:t>of real emergencies caught (baseline 71%)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223760" y="2798064"/>
            <a:ext cx="1234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2000" b="1">
                <a:solidFill>
                  <a:srgbClr val="C5221F"/>
                </a:solidFill>
                <a:latin typeface="Poppins"/>
              </a:rPr>
              <a:t>98%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503920" y="2843784"/>
            <a:ext cx="3063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1E293B"/>
                </a:solidFill>
                <a:latin typeface="Inter"/>
              </a:rPr>
              <a:t>of the most severe reports not dismissed (baseline 75%)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223760" y="3584448"/>
            <a:ext cx="1234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2000" b="1">
                <a:solidFill>
                  <a:srgbClr val="C5221F"/>
                </a:solidFill>
                <a:latin typeface="Poppins"/>
              </a:rPr>
              <a:t>0.77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503920" y="3630168"/>
            <a:ext cx="3063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1E293B"/>
                </a:solidFill>
                <a:latin typeface="Inter"/>
              </a:rPr>
              <a:t>macro F1 on real reports (baseline 0.56)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7223760" y="4370832"/>
            <a:ext cx="1234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2000" b="1">
                <a:solidFill>
                  <a:srgbClr val="C5221F"/>
                </a:solidFill>
                <a:latin typeface="Poppins"/>
              </a:rPr>
              <a:t>0.75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8503920" y="4416552"/>
            <a:ext cx="3063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1E293B"/>
                </a:solidFill>
                <a:latin typeface="Inter"/>
              </a:rPr>
              <a:t>severity RMSE on call-style reports (MSE 0.57)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223760" y="5157216"/>
            <a:ext cx="1234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2000" b="1">
                <a:solidFill>
                  <a:srgbClr val="C5221F"/>
                </a:solidFill>
                <a:latin typeface="Poppins"/>
              </a:rPr>
              <a:t>~3 s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8503920" y="5202936"/>
            <a:ext cx="3063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1E293B"/>
                </a:solidFill>
                <a:latin typeface="Inter"/>
              </a:rPr>
              <a:t>per report on a laptop, fully offline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"/>
          <p:cNvSpPr/>
          <p:nvPr/>
        </p:nvSpPr>
        <p:spPr>
          <a:xfrm>
            <a:off x="495300" y="342900"/>
            <a:ext cx="11201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495300" y="6229350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495300" y="1057275"/>
            <a:ext cx="11201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495300" y="6229350"/>
            <a:ext cx="1120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495300" y="6353175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Team P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10810875" y="6353175"/>
            <a:ext cx="1171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05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1167556" y="342900"/>
            <a:ext cx="527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SECTION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 txBox="1"/>
          <p:nvPr/>
        </p:nvSpPr>
        <p:spPr>
          <a:xfrm>
            <a:off x="1167546" y="523875"/>
            <a:ext cx="722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6" title="110b2eab-5352-4831-9ee3-deb85c4bbeef_workshops--1-.png"/>
          <p:cNvPicPr preferRelativeResize="0"/>
          <p:nvPr/>
        </p:nvPicPr>
        <p:blipFill rotWithShape="1">
          <a:blip r:embed="rId4">
            <a:alphaModFix/>
          </a:blip>
          <a:srcRect b="0" l="4841" r="4841" t="0"/>
          <a:stretch/>
        </p:blipFill>
        <p:spPr>
          <a:xfrm>
            <a:off x="296012" y="152521"/>
            <a:ext cx="734775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" title="WhatsApp Image 2026-10-03 at 11.28.59 PM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103" y="143191"/>
            <a:ext cx="807352" cy="807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Rounded Rectangle 277"/>
          <p:cNvSpPr/>
          <p:nvPr/>
        </p:nvSpPr>
        <p:spPr>
          <a:xfrm>
            <a:off x="493776" y="1298448"/>
            <a:ext cx="6903720" cy="47091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722376" y="1298448"/>
            <a:ext cx="822960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713232" y="1481328"/>
            <a:ext cx="6400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Poppins"/>
              </a:rPr>
              <a:t>Result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713232" y="1874519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125" b="1">
                <a:solidFill>
                  <a:srgbClr val="0F172A"/>
                </a:solidFill>
                <a:latin typeface="Inter"/>
              </a:rPr>
              <a:t>Incident type: baseline → our DistilBERT</a:t>
            </a:r>
          </a:p>
        </p:txBody>
      </p:sp>
      <p:graphicFrame>
        <p:nvGraphicFramePr>
          <p:cNvPr id="282" name="Table 281"/>
          <p:cNvGraphicFramePr>
            <a:graphicFrameLocks noGrp="1"/>
          </p:cNvGraphicFramePr>
          <p:nvPr/>
        </p:nvGraphicFramePr>
        <p:xfrm>
          <a:off x="713232" y="2148840"/>
          <a:ext cx="6464808" cy="11704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362456"/>
                <a:gridCol w="1362456"/>
                <a:gridCol w="1362456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Test set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Macro precision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Macro recall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Macro F1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Inter"/>
                        </a:rPr>
                        <a:t>Gold: 144 real reports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Inter"/>
                        </a:rPr>
                        <a:t>0.61 → 0.76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Inter"/>
                        </a:rPr>
                        <a:t>0.59 → 0.79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Inter"/>
                        </a:rPr>
                        <a:t>0.56 → 0.77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Inter"/>
                        </a:rPr>
                        <a:t>Call-style: 107 reports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Inter"/>
                        </a:rPr>
                        <a:t>0.89 → 0.96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Inter"/>
                        </a:rPr>
                        <a:t>0.86 → 0.96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Inter"/>
                        </a:rPr>
                        <a:t>0.87 → 0.96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Inter"/>
                        </a:rPr>
                        <a:t>Real tweets: 7,755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Inter"/>
                        </a:rPr>
                        <a:t>0.73 → 0.79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Inter"/>
                        </a:rPr>
                        <a:t>0.62 → 0.75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Inter"/>
                        </a:rPr>
                        <a:t>0.63 → 0.75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3" name="TextBox 282"/>
          <p:cNvSpPr txBox="1"/>
          <p:nvPr/>
        </p:nvSpPr>
        <p:spPr>
          <a:xfrm>
            <a:off x="713232" y="338328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125" b="1">
                <a:solidFill>
                  <a:srgbClr val="0F172A"/>
                </a:solidFill>
                <a:latin typeface="Inter"/>
              </a:rPr>
              <a:t>Safety, severity, extraction and voice</a:t>
            </a:r>
          </a:p>
        </p:txBody>
      </p:sp>
      <p:graphicFrame>
        <p:nvGraphicFramePr>
          <p:cNvPr id="284" name="Table 283"/>
          <p:cNvGraphicFramePr>
            <a:graphicFrameLocks noGrp="1"/>
          </p:cNvGraphicFramePr>
          <p:nvPr/>
        </p:nvGraphicFramePr>
        <p:xfrm>
          <a:off x="713232" y="3675887"/>
          <a:ext cx="6464808" cy="17922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480560"/>
                <a:gridCol w="1984248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Inter"/>
                        </a:rPr>
                        <a:t>Real emergencies caught / severe reports not dismissed (gold)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Inter"/>
                        </a:rPr>
                        <a:t>0.91 / 0.98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Inter"/>
                        </a:rPr>
                        <a:t>False alarms on non-emergencies (gold)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Inter"/>
                        </a:rPr>
                        <a:t>0.38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Inter"/>
                        </a:rPr>
                        <a:t>Severity RMSE / MSE, call-style reports (107)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Inter"/>
                        </a:rPr>
                        <a:t>0.75 / 0.57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Inter"/>
                        </a:rPr>
                        <a:t>Severity RMSE / MSE, real reports (gold 144)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Inter"/>
                        </a:rPr>
                        <a:t>1.33 / 1.77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Inter"/>
                        </a:rPr>
                        <a:t>Field extraction: output parses / location F1 (call-style)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Inter"/>
                        </a:rPr>
                        <a:t>100% / 0.78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Inter"/>
                        </a:rPr>
                        <a:t>Whisper word error rate, synthetic voices (clean / noisy)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Inter"/>
                        </a:rPr>
                        <a:t>9.9% / 15.5%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85" name="TextBox 284"/>
          <p:cNvSpPr txBox="1"/>
          <p:nvPr/>
        </p:nvSpPr>
        <p:spPr>
          <a:xfrm>
            <a:off x="713232" y="5532120"/>
            <a:ext cx="64922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64748B"/>
                </a:solidFill>
                <a:latin typeface="Inter"/>
              </a:rPr>
              <a:t>Gold labels were written by Claude and checked by a person (30 of 30 agreed). Voice was tested on text-to-speech audio, not real callers.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7543800" y="1298448"/>
            <a:ext cx="4151376" cy="47091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7772400" y="1298448"/>
            <a:ext cx="822960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7772400" y="1481328"/>
            <a:ext cx="3657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Poppins"/>
              </a:rPr>
              <a:t>Confusion Matrix (Gold)</a:t>
            </a:r>
          </a:p>
        </p:txBody>
      </p:sp>
      <p:pic>
        <p:nvPicPr>
          <p:cNvPr id="289" name="Picture 288" descr="confusion_matrix_gold_ml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1920240"/>
            <a:ext cx="3785615" cy="3075812"/>
          </a:xfrm>
          <a:prstGeom prst="rect">
            <a:avLst/>
          </a:prstGeom>
        </p:spPr>
      </p:pic>
      <p:sp>
        <p:nvSpPr>
          <p:cNvPr id="290" name="TextBox 289"/>
          <p:cNvSpPr txBox="1"/>
          <p:nvPr/>
        </p:nvSpPr>
        <p:spPr>
          <a:xfrm>
            <a:off x="7726679" y="5349240"/>
            <a:ext cx="37947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64748B"/>
                </a:solidFill>
                <a:latin typeface="Inter"/>
              </a:rPr>
              <a:t>DistilBERT on 144 real reports. Strongest gains: violent crime and fire, where word counting fails.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"/>
          <p:cNvSpPr/>
          <p:nvPr/>
        </p:nvSpPr>
        <p:spPr>
          <a:xfrm>
            <a:off x="495300" y="342900"/>
            <a:ext cx="11201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95300" y="6229350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495300" y="1057275"/>
            <a:ext cx="11201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495300" y="6229350"/>
            <a:ext cx="1120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 txBox="1"/>
          <p:nvPr/>
        </p:nvSpPr>
        <p:spPr>
          <a:xfrm>
            <a:off x="495300" y="6353175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Team P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10810875" y="6353175"/>
            <a:ext cx="1171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06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1167556" y="342900"/>
            <a:ext cx="527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SECTION 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1167556" y="523875"/>
            <a:ext cx="453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FEASIBILITY &amp; RISK MITIGATION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7" title="110b2eab-5352-4831-9ee3-deb85c4bbeef_workshops--1-.png"/>
          <p:cNvPicPr preferRelativeResize="0"/>
          <p:nvPr/>
        </p:nvPicPr>
        <p:blipFill rotWithShape="1">
          <a:blip r:embed="rId6">
            <a:alphaModFix/>
          </a:blip>
          <a:srcRect b="0" l="4841" r="4841" t="0"/>
          <a:stretch/>
        </p:blipFill>
        <p:spPr>
          <a:xfrm>
            <a:off x="296012" y="152521"/>
            <a:ext cx="734775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7" title="WhatsApp Image 2026-10-03 at 11.28.59 PM.jpe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6103" y="143191"/>
            <a:ext cx="807352" cy="80735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Rounded Rectangle 318"/>
          <p:cNvSpPr/>
          <p:nvPr/>
        </p:nvSpPr>
        <p:spPr>
          <a:xfrm>
            <a:off x="493776" y="1298448"/>
            <a:ext cx="3566160" cy="47091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722376" y="1298448"/>
            <a:ext cx="822960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694944" y="1481328"/>
            <a:ext cx="3200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Poppins"/>
              </a:rPr>
              <a:t>Feasibility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694944" y="1965960"/>
            <a:ext cx="3182112" cy="3931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55448" indent="-155448">
              <a:spcBef>
                <a:spcPts val="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Built and tested in 12 hours: </a:t>
            </a:r>
            <a:r>
              <a:rPr sz="1400" b="0">
                <a:solidFill>
                  <a:srgbClr val="1E293B"/>
                </a:solidFill>
                <a:latin typeface="Inter"/>
              </a:rPr>
              <a:t>data, three models, API and dashboard, 52 automated tests.</a:t>
            </a:r>
          </a:p>
          <a:p>
            <a:pPr marL="155448" indent="-155448">
              <a:spcBef>
                <a:spcPts val="70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Small models: </a:t>
            </a:r>
            <a:r>
              <a:rPr sz="1400" b="0">
                <a:solidFill>
                  <a:srgbClr val="1E293B"/>
                </a:solidFill>
                <a:latin typeface="Inter"/>
              </a:rPr>
              <a:t>DistilBERT and Flan-T5-base run on a laptop, about 3 s per report.</a:t>
            </a:r>
          </a:p>
          <a:p>
            <a:pPr marL="155448" indent="-155448">
              <a:spcBef>
                <a:spcPts val="70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Free tools only: </a:t>
            </a:r>
            <a:r>
              <a:rPr sz="1400" b="0">
                <a:solidFill>
                  <a:srgbClr val="1E293B"/>
                </a:solidFill>
                <a:latin typeface="Inter"/>
              </a:rPr>
              <a:t>Kaggle T4 GPUs, Hugging Face, open datasets.</a:t>
            </a:r>
          </a:p>
          <a:p>
            <a:pPr marL="155448" indent="-155448">
              <a:spcBef>
                <a:spcPts val="70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Demonstrated: </a:t>
            </a:r>
            <a:r>
              <a:rPr sz="1400" b="0">
                <a:solidFill>
                  <a:srgbClr val="1E293B"/>
                </a:solidFill>
                <a:latin typeface="Inter"/>
              </a:rPr>
              <a:t>typed and voice reports through the real models to a prioritised queue and map.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4302252" y="1298448"/>
            <a:ext cx="3566160" cy="47091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4530852" y="1298448"/>
            <a:ext cx="822960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4503420" y="1481328"/>
            <a:ext cx="3200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Poppins"/>
              </a:rPr>
              <a:t>Potential Risks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4503420" y="1965960"/>
            <a:ext cx="3182112" cy="3931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55448" indent="-155448">
              <a:spcBef>
                <a:spcPts val="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False alarms: </a:t>
            </a:r>
            <a:r>
              <a:rPr sz="1400" b="0">
                <a:solidFill>
                  <a:srgbClr val="1E293B"/>
                </a:solidFill>
                <a:latin typeface="Inter"/>
              </a:rPr>
              <a:t>38% of non-emergency tweets flagged on the gold set.</a:t>
            </a:r>
          </a:p>
          <a:p>
            <a:pPr marL="155448" indent="-155448">
              <a:spcBef>
                <a:spcPts val="70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Severity: </a:t>
            </a:r>
            <a:r>
              <a:rPr sz="1400" b="0">
                <a:solidFill>
                  <a:srgbClr val="1E293B"/>
                </a:solidFill>
                <a:latin typeface="Inter"/>
              </a:rPr>
              <a:t>weaker on news-style text (RMSE 1.33).</a:t>
            </a:r>
          </a:p>
          <a:p>
            <a:pPr marL="155448" indent="-155448">
              <a:spcBef>
                <a:spcPts val="70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Data: </a:t>
            </a:r>
            <a:r>
              <a:rPr sz="1400" b="0">
                <a:solidFill>
                  <a:srgbClr val="1E293B"/>
                </a:solidFill>
                <a:latin typeface="Inter"/>
              </a:rPr>
              <a:t>no real 112 calls; MEDICAL is synthetic only; gold labels by Claude.</a:t>
            </a:r>
          </a:p>
          <a:p>
            <a:pPr marL="155448" indent="-155448">
              <a:spcBef>
                <a:spcPts val="70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Voice: </a:t>
            </a:r>
            <a:r>
              <a:rPr sz="1400" b="0">
                <a:solidFill>
                  <a:srgbClr val="1E293B"/>
                </a:solidFill>
                <a:latin typeface="Inter"/>
              </a:rPr>
              <a:t>place names and numbers misheard (word error 10 to 16%).</a:t>
            </a:r>
          </a:p>
          <a:p>
            <a:pPr marL="155448" indent="-155448">
              <a:spcBef>
                <a:spcPts val="70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Scope: </a:t>
            </a:r>
            <a:r>
              <a:rPr sz="1400" b="0">
                <a:solidFill>
                  <a:srgbClr val="1E293B"/>
                </a:solidFill>
                <a:latin typeface="Inter"/>
              </a:rPr>
              <a:t>English only.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8110728" y="1298448"/>
            <a:ext cx="3566160" cy="47091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339328" y="1298448"/>
            <a:ext cx="822960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8311896" y="1481328"/>
            <a:ext cx="3200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Poppins"/>
              </a:rPr>
              <a:t>Mitigation Plan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8311896" y="1965960"/>
            <a:ext cx="3182112" cy="3931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55448" indent="-155448">
              <a:spcBef>
                <a:spcPts val="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Human in the loop: </a:t>
            </a:r>
            <a:r>
              <a:rPr sz="1400" b="0">
                <a:solidFill>
                  <a:srgbClr val="1E293B"/>
                </a:solidFill>
                <a:latin typeface="Inter"/>
              </a:rPr>
              <a:t>a dispatcher confirms every alert and can edit the transcript.</a:t>
            </a:r>
          </a:p>
          <a:p>
            <a:pPr marL="155448" indent="-155448">
              <a:spcBef>
                <a:spcPts val="70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Recall first: </a:t>
            </a:r>
            <a:r>
              <a:rPr sz="1400" b="0">
                <a:solidFill>
                  <a:srgbClr val="1E293B"/>
                </a:solidFill>
                <a:latin typeface="Inter"/>
              </a:rPr>
              <a:t>98% of severe reports kept; false alarms cost less than misses.</a:t>
            </a:r>
          </a:p>
          <a:p>
            <a:pPr marL="155448" indent="-155448">
              <a:spcBef>
                <a:spcPts val="70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Fallbacks: </a:t>
            </a:r>
            <a:r>
              <a:rPr sz="1400" b="0">
                <a:solidFill>
                  <a:srgbClr val="1E293B"/>
                </a:solidFill>
                <a:latin typeface="Inter"/>
              </a:rPr>
              <a:t>rule-based extractor, offline models, mock mode, backup demo video.</a:t>
            </a:r>
          </a:p>
          <a:p>
            <a:pPr marL="155448" indent="-155448">
              <a:spcBef>
                <a:spcPts val="700"/>
              </a:spcBef>
              <a:buClr>
                <a:srgbClr val="C5221F"/>
              </a:buClr>
              <a:buChar char="•"/>
            </a:pPr>
            <a:r>
              <a:rPr sz="1400" b="1">
                <a:solidFill>
                  <a:srgbClr val="0F172A"/>
                </a:solidFill>
                <a:latin typeface="Inter"/>
              </a:rPr>
              <a:t>Next: </a:t>
            </a:r>
            <a:r>
              <a:rPr sz="1400" b="0">
                <a:solidFill>
                  <a:srgbClr val="1E293B"/>
                </a:solidFill>
                <a:latin typeface="Inter"/>
              </a:rPr>
              <a:t>real anonymised 112 transcripts, Hindi, Marathi and Hinglish, learning from logged corrections.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"/>
          <p:cNvSpPr/>
          <p:nvPr/>
        </p:nvSpPr>
        <p:spPr>
          <a:xfrm>
            <a:off x="495300" y="342900"/>
            <a:ext cx="112014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95300" y="6229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95300" y="1057275"/>
            <a:ext cx="11201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495300" y="622935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495300" y="6353175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Team P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10810875" y="6353175"/>
            <a:ext cx="1171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07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1167556" y="342900"/>
            <a:ext cx="420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SECTION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1167556" y="523875"/>
            <a:ext cx="7315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&amp; 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8" title="110b2eab-5352-4831-9ee3-deb85c4bbeef_workshops--1-.png"/>
          <p:cNvPicPr preferRelativeResize="0"/>
          <p:nvPr/>
        </p:nvPicPr>
        <p:blipFill rotWithShape="1">
          <a:blip r:embed="rId4">
            <a:alphaModFix/>
          </a:blip>
          <a:srcRect b="0" l="4841" r="4841" t="0"/>
          <a:stretch/>
        </p:blipFill>
        <p:spPr>
          <a:xfrm>
            <a:off x="288877" y="165197"/>
            <a:ext cx="734775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8" title="WhatsApp Image 2026-10-03 at 11.28.59 PM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616" y="134319"/>
            <a:ext cx="807352" cy="80735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Rounded Rectangle 346"/>
          <p:cNvSpPr/>
          <p:nvPr/>
        </p:nvSpPr>
        <p:spPr>
          <a:xfrm>
            <a:off x="493776" y="1298448"/>
            <a:ext cx="11201400" cy="47091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722376" y="1298448"/>
            <a:ext cx="822960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713232" y="1481328"/>
            <a:ext cx="10058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Poppins"/>
              </a:rPr>
              <a:t>Key Reference Sources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713232" y="1938528"/>
            <a:ext cx="10698480" cy="3931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55448" indent="-155448">
              <a:spcBef>
                <a:spcPts val="0"/>
              </a:spcBef>
              <a:buClr>
                <a:srgbClr val="C5221F"/>
              </a:buClr>
              <a:buChar char="•"/>
            </a:pPr>
            <a:r>
              <a:rPr sz="1200" b="1">
                <a:solidFill>
                  <a:srgbClr val="0F172A"/>
                </a:solidFill>
                <a:latin typeface="Inter"/>
              </a:rPr>
              <a:t>Dataset Sources: </a:t>
            </a:r>
          </a:p>
          <a:p>
            <a:pPr marL="365760" indent="0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Inter"/>
              </a:rPr>
              <a:t>HumAID, Alam et al., ICWSM 2021: crisisnlp.qcri.org/humaid_dataset</a:t>
            </a:r>
          </a:p>
          <a:p>
            <a:pPr marL="365760" indent="0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Inter"/>
              </a:rPr>
              <a:t>CrisisLexT26, Olteanu et al., 2015: crisislex.org/data-collections.html</a:t>
            </a:r>
          </a:p>
          <a:p>
            <a:pPr marL="365760" indent="0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Inter"/>
              </a:rPr>
              <a:t>Kaggle, Natural Language Processing with Disaster Tweets (negatives): kaggle.com/competitions/nlp-getting-started</a:t>
            </a:r>
          </a:p>
          <a:p>
            <a:pPr marL="365760" indent="0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Inter"/>
              </a:rPr>
              <a:t>Ours: 710 call-style reports and a 144-report gold set: kaggle.com/datasets/ggauravj05/resqpulse-data</a:t>
            </a:r>
          </a:p>
          <a:p>
            <a:pPr marL="155448" indent="-155448">
              <a:spcBef>
                <a:spcPts val="1200"/>
              </a:spcBef>
              <a:buClr>
                <a:srgbClr val="C5221F"/>
              </a:buClr>
              <a:buChar char="•"/>
            </a:pPr>
            <a:r>
              <a:rPr sz="1200" b="1">
                <a:solidFill>
                  <a:srgbClr val="0F172A"/>
                </a:solidFill>
                <a:latin typeface="Inter"/>
              </a:rPr>
              <a:t>Research Papers / Patent References: </a:t>
            </a:r>
          </a:p>
          <a:p>
            <a:pPr marL="365760" indent="0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Inter"/>
              </a:rPr>
              <a:t>Vaswani et al., Attention Is All You Need, 2017; Sanh et al., DistilBERT, 2019</a:t>
            </a:r>
          </a:p>
          <a:p>
            <a:pPr marL="365760" indent="0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Inter"/>
              </a:rPr>
              <a:t>Chung et al., Scaling Instruction-Finetuned Language Models (Flan-T5), 2022</a:t>
            </a:r>
          </a:p>
          <a:p>
            <a:pPr marL="365760" indent="0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Inter"/>
              </a:rPr>
              <a:t>Abnar and Zuidema, Quantifying Attention Flow in Transformers (attention rollout), ACL 2020</a:t>
            </a:r>
          </a:p>
          <a:p>
            <a:pPr marL="365760" indent="0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Inter"/>
              </a:rPr>
              <a:t>Radford et al., Robust Speech Recognition via Large-Scale Weak Supervision (Whisper), 2022</a:t>
            </a:r>
          </a:p>
          <a:p>
            <a:pPr marL="155448" indent="-155448">
              <a:spcBef>
                <a:spcPts val="1200"/>
              </a:spcBef>
              <a:buClr>
                <a:srgbClr val="C5221F"/>
              </a:buClr>
              <a:buChar char="•"/>
            </a:pPr>
            <a:r>
              <a:rPr sz="1200" b="1">
                <a:solidFill>
                  <a:srgbClr val="0F172A"/>
                </a:solidFill>
                <a:latin typeface="Inter"/>
              </a:rPr>
              <a:t>Open Source Libraries &amp; APIs: </a:t>
            </a:r>
          </a:p>
          <a:p>
            <a:pPr marL="365760" indent="0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Inter"/>
              </a:rPr>
              <a:t>PyTorch, Hugging Face Transformers, faster-whisper, sentence-transformers (all-MiniLM-L6-v2), scikit-learn</a:t>
            </a:r>
          </a:p>
          <a:p>
            <a:pPr marL="365760" indent="0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Inter"/>
              </a:rPr>
              <a:t>FastAPI, Streamlit, Folium, rapidfuzz; OpenStreetMap Nominatim for geocoding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