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Inter"/>
      <p:regular r:id="rId14"/>
      <p:bold r:id="rId15"/>
      <p:italic r:id="rId16"/>
      <p:boldItalic r:id="rId17"/>
    </p:embeddedFont>
    <p:embeddedFont>
      <p:font typeface="Poppins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Y4TzdZsGBCSowIKvnNwJAhkWn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italic.fntdata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font" Target="fonts/Poppins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bold.fntdata"/><Relationship Id="rId14" Type="http://schemas.openxmlformats.org/officeDocument/2006/relationships/font" Target="fonts/Inter-regular.fntdata"/><Relationship Id="rId17" Type="http://schemas.openxmlformats.org/officeDocument/2006/relationships/font" Target="fonts/Inter-boldItalic.fntdata"/><Relationship Id="rId16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bold.fntdata"/><Relationship Id="rId6" Type="http://schemas.openxmlformats.org/officeDocument/2006/relationships/slide" Target="slides/slide1.xml"/><Relationship Id="rId18" Type="http://schemas.openxmlformats.org/officeDocument/2006/relationships/font" Target="fonts/Poppins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" name="Google Shape;12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8" name="Google Shape;18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6" name="Google Shape;256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0" name="Google Shape;280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1" name="Google Shape;32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5.png"/><Relationship Id="rId6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.png"/><Relationship Id="rId5" Type="http://schemas.openxmlformats.org/officeDocument/2006/relationships/image" Target="../media/image5.png"/><Relationship Id="rId6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1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Relationship Id="rId6" Type="http://schemas.openxmlformats.org/officeDocument/2006/relationships/image" Target="../media/image5.png"/><Relationship Id="rId7" Type="http://schemas.openxmlformats.org/officeDocument/2006/relationships/image" Target="../media/image1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Relationship Id="rId4" Type="http://schemas.openxmlformats.org/officeDocument/2006/relationships/image" Target="../media/image5.png"/><Relationship Id="rId5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376900" y="1071477"/>
            <a:ext cx="11201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470179" y="1170319"/>
            <a:ext cx="11201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495300" y="2471737"/>
            <a:ext cx="54864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/>
          <p:nvPr/>
        </p:nvSpPr>
        <p:spPr>
          <a:xfrm>
            <a:off x="6210300" y="2471737"/>
            <a:ext cx="5486400" cy="23622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771525" y="2947987"/>
            <a:ext cx="493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6486525" y="2947987"/>
            <a:ext cx="493395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2771775" y="31099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2771775" y="36052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2771775" y="41005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/>
          <p:nvPr/>
        </p:nvSpPr>
        <p:spPr>
          <a:xfrm>
            <a:off x="8486775" y="31099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8486775" y="3605212"/>
            <a:ext cx="2933700" cy="36195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10820400" y="6353175"/>
            <a:ext cx="11620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Slide 01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3319498" y="1198150"/>
            <a:ext cx="570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Department of Computer Engineering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771525" y="2709862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1. PROBLEM STATEMENT 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 txBox="1"/>
          <p:nvPr/>
        </p:nvSpPr>
        <p:spPr>
          <a:xfrm>
            <a:off x="6486525" y="2709862"/>
            <a:ext cx="5029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2. TEAM SUBMISSION DETAILS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771525" y="3195637"/>
            <a:ext cx="2500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Statement ID: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2886075" y="3186112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771525" y="3690937"/>
            <a:ext cx="2500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Problem Title: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 txBox="1"/>
          <p:nvPr/>
        </p:nvSpPr>
        <p:spPr>
          <a:xfrm>
            <a:off x="2886075" y="3681412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 Insert Problem Statement Title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771525" y="4186237"/>
            <a:ext cx="2500312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Domain Theme: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2886075" y="4176712"/>
            <a:ext cx="28003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 e.g., AI / Healthcare / Fintech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6486525" y="3195637"/>
            <a:ext cx="250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Team No: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8601075" y="3186112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 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6486525" y="3690937"/>
            <a:ext cx="250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Team Member Names: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/>
        </p:nvSpPr>
        <p:spPr>
          <a:xfrm>
            <a:off x="8601075" y="3681412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Gaurav Jadhav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1" name="Google Shape;111;p1" title="ChatGPT Image Oct 15, 2026, 12_41_51 AM.png"/>
          <p:cNvPicPr preferRelativeResize="0"/>
          <p:nvPr/>
        </p:nvPicPr>
        <p:blipFill rotWithShape="1">
          <a:blip r:embed="rId3">
            <a:alphaModFix/>
          </a:blip>
          <a:srcRect b="26944" l="0" r="0" t="26944"/>
          <a:stretch/>
        </p:blipFill>
        <p:spPr>
          <a:xfrm>
            <a:off x="2628830" y="86850"/>
            <a:ext cx="6694651" cy="1031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20408" y="57135"/>
            <a:ext cx="1019175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"/>
          <p:cNvSpPr txBox="1"/>
          <p:nvPr/>
        </p:nvSpPr>
        <p:spPr>
          <a:xfrm>
            <a:off x="4466123" y="1601526"/>
            <a:ext cx="3708600" cy="285900"/>
          </a:xfrm>
          <a:prstGeom prst="rect">
            <a:avLst/>
          </a:prstGeom>
          <a:noFill/>
          <a:ln cap="flat" cmpd="sng" w="952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F172A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Hackathon - GenHack V1.0</a:t>
            </a:r>
            <a:endParaRPr b="1" i="0" sz="1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3429000" y="5091106"/>
            <a:ext cx="5486400" cy="1031100"/>
          </a:xfrm>
          <a:prstGeom prst="roundRect">
            <a:avLst>
              <a:gd fmla="val 3225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 txBox="1"/>
          <p:nvPr/>
        </p:nvSpPr>
        <p:spPr>
          <a:xfrm>
            <a:off x="3624425" y="5209472"/>
            <a:ext cx="5029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3. SUSTAINABLE DEVELOPMENT GOAL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"/>
          <p:cNvSpPr txBox="1"/>
          <p:nvPr/>
        </p:nvSpPr>
        <p:spPr>
          <a:xfrm>
            <a:off x="3729489" y="5573898"/>
            <a:ext cx="2500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SDG 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"/>
          <p:cNvSpPr/>
          <p:nvPr/>
        </p:nvSpPr>
        <p:spPr>
          <a:xfrm>
            <a:off x="4795298" y="5500687"/>
            <a:ext cx="2933700" cy="362100"/>
          </a:xfrm>
          <a:prstGeom prst="roundRect">
            <a:avLst>
              <a:gd fmla="val 15789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4948144" y="5555308"/>
            <a:ext cx="2800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[ Insert SDG Name and Number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"/>
          <p:cNvSpPr/>
          <p:nvPr/>
        </p:nvSpPr>
        <p:spPr>
          <a:xfrm>
            <a:off x="495300" y="3429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2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/>
          <p:nvPr/>
        </p:nvSpPr>
        <p:spPr>
          <a:xfrm>
            <a:off x="495300" y="1057275"/>
            <a:ext cx="112014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/>
          <p:nvPr/>
        </p:nvSpPr>
        <p:spPr>
          <a:xfrm>
            <a:off x="495300" y="2481262"/>
            <a:ext cx="5486400" cy="2343150"/>
          </a:xfrm>
          <a:prstGeom prst="roundRect">
            <a:avLst>
              <a:gd fmla="val 325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"/>
          <p:cNvSpPr/>
          <p:nvPr/>
        </p:nvSpPr>
        <p:spPr>
          <a:xfrm>
            <a:off x="6210300" y="2481250"/>
            <a:ext cx="5486400" cy="2343300"/>
          </a:xfrm>
          <a:prstGeom prst="roundRect">
            <a:avLst>
              <a:gd fmla="val 325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495300" y="2481262"/>
            <a:ext cx="38100" cy="234315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6210300" y="2481262"/>
            <a:ext cx="38100" cy="234330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1" name="Google Shape;13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100" y="2767012"/>
            <a:ext cx="1809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15100" y="2767012"/>
            <a:ext cx="2000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"/>
          <p:cNvSpPr txBox="1"/>
          <p:nvPr/>
        </p:nvSpPr>
        <p:spPr>
          <a:xfrm>
            <a:off x="9858375" y="6353175"/>
            <a:ext cx="2297906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Slide 02 of 07 (Instructions)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1167556" y="396132"/>
            <a:ext cx="79059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F87171"/>
                </a:solidFill>
                <a:latin typeface="Inter"/>
                <a:ea typeface="Inter"/>
                <a:cs typeface="Inter"/>
                <a:sym typeface="Inter"/>
              </a:rPr>
              <a:t>GUIDELINES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1167550" y="541619"/>
            <a:ext cx="102861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IMPORTANT INSTRUCTIONS FOR PARTICIPANTS ( Delete this slide )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 txBox="1"/>
          <p:nvPr/>
        </p:nvSpPr>
        <p:spPr>
          <a:xfrm>
            <a:off x="800100" y="2747962"/>
            <a:ext cx="6450806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Formatting Rules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6515100" y="2747962"/>
            <a:ext cx="56769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25"/>
              <a:buFont typeface="Arial"/>
              <a:buNone/>
            </a:pPr>
            <a:r>
              <a:rPr b="1" i="0" lang="en-US" sz="1425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Submission &amp; Export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914400" y="3098006"/>
            <a:ext cx="762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 txBox="1"/>
          <p:nvPr/>
        </p:nvSpPr>
        <p:spPr>
          <a:xfrm>
            <a:off x="990600" y="3100387"/>
            <a:ext cx="59055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Maximum limit of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6 content slides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914400" y="3438484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990600" y="3440866"/>
            <a:ext cx="48198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Keep content in concise bullet points and diagrams for easy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 txBox="1"/>
          <p:nvPr/>
        </p:nvSpPr>
        <p:spPr>
          <a:xfrm>
            <a:off x="914400" y="3977491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990600" y="3988745"/>
            <a:ext cx="48198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Do not modify standard section headers to maintain fair grading across teams.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6629400" y="3098006"/>
            <a:ext cx="76200" cy="24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 txBox="1"/>
          <p:nvPr/>
        </p:nvSpPr>
        <p:spPr>
          <a:xfrm>
            <a:off x="6783525" y="3074649"/>
            <a:ext cx="4819800" cy="1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Export and submit the final deck in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PDF format on link- https://drive.google.com/drive/folders/1NdvNqEpZ1Wwsd2_v0UKJQtMLLDt-fqtS?usp=drive_link 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b="0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Name of file - groupno.pdf (ex. P10.pdf)</a:t>
            </a:r>
            <a:endParaRPr b="0" i="0" sz="1125" u="none" cap="none" strike="noStrike">
              <a:solidFill>
                <a:srgbClr val="CBD5E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6629400" y="3468437"/>
            <a:ext cx="76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6783525" y="4150608"/>
            <a:ext cx="4819800" cy="46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Maintain standard </a:t>
            </a:r>
            <a:r>
              <a:rPr b="1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text format</a:t>
            </a: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and clean alignment across all response fields.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 txBox="1"/>
          <p:nvPr/>
        </p:nvSpPr>
        <p:spPr>
          <a:xfrm>
            <a:off x="6629400" y="4199442"/>
            <a:ext cx="76200" cy="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6783525" y="4579637"/>
            <a:ext cx="48198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" title="110b2eab-5352-4831-9ee3-deb85c4bbeef_workshops--1-.png"/>
          <p:cNvPicPr preferRelativeResize="0"/>
          <p:nvPr/>
        </p:nvPicPr>
        <p:blipFill rotWithShape="1">
          <a:blip r:embed="rId5">
            <a:alphaModFix/>
          </a:blip>
          <a:srcRect b="0" l="4841" r="4841" t="0"/>
          <a:stretch/>
        </p:blipFill>
        <p:spPr>
          <a:xfrm>
            <a:off x="358920" y="135147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" title="WhatsApp Image 2026-10-03 at 11.28.59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27232" y="143191"/>
            <a:ext cx="807352" cy="80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/>
          <p:nvPr/>
        </p:nvSpPr>
        <p:spPr>
          <a:xfrm>
            <a:off x="495300" y="3429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495300" y="1057275"/>
            <a:ext cx="11201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495300" y="2596753"/>
            <a:ext cx="5934967" cy="2112168"/>
          </a:xfrm>
          <a:prstGeom prst="roundRect">
            <a:avLst>
              <a:gd fmla="val 36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6658867" y="2596753"/>
            <a:ext cx="5037832" cy="2112168"/>
          </a:xfrm>
          <a:prstGeom prst="roundRect">
            <a:avLst>
              <a:gd fmla="val 3607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495300" y="4699396"/>
            <a:ext cx="593496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495300" y="2596753"/>
            <a:ext cx="5934967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495300" y="2596753"/>
            <a:ext cx="9525" cy="2112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/>
          <p:nvPr/>
        </p:nvSpPr>
        <p:spPr>
          <a:xfrm>
            <a:off x="6420742" y="2596753"/>
            <a:ext cx="9525" cy="2112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771525" y="3580209"/>
            <a:ext cx="5382517" cy="890587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/>
          <p:nvPr/>
        </p:nvSpPr>
        <p:spPr>
          <a:xfrm>
            <a:off x="6658867" y="4699396"/>
            <a:ext cx="503783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3"/>
          <p:cNvSpPr/>
          <p:nvPr/>
        </p:nvSpPr>
        <p:spPr>
          <a:xfrm>
            <a:off x="6658867" y="2596753"/>
            <a:ext cx="5037832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/>
          <p:nvPr/>
        </p:nvSpPr>
        <p:spPr>
          <a:xfrm>
            <a:off x="6658867" y="2596753"/>
            <a:ext cx="9525" cy="2112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11687175" y="2596753"/>
            <a:ext cx="9525" cy="211216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6935092" y="3580209"/>
            <a:ext cx="4485382" cy="676275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2" name="Google Shape;17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2911078"/>
            <a:ext cx="14287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3" name="Google Shape;17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35092" y="2911078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3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[ Team No.]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10801350" y="6353175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02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1167556" y="342900"/>
            <a:ext cx="6215062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3"/>
          <p:cNvSpPr txBox="1"/>
          <p:nvPr/>
        </p:nvSpPr>
        <p:spPr>
          <a:xfrm>
            <a:off x="1167556" y="523875"/>
            <a:ext cx="5320665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PROPOSED SOLUTION &amp; INNOVATION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"/>
          <p:cNvSpPr txBox="1"/>
          <p:nvPr/>
        </p:nvSpPr>
        <p:spPr>
          <a:xfrm>
            <a:off x="1009650" y="2863453"/>
            <a:ext cx="5501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Solution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3"/>
          <p:cNvSpPr txBox="1"/>
          <p:nvPr/>
        </p:nvSpPr>
        <p:spPr>
          <a:xfrm>
            <a:off x="771525" y="3244453"/>
            <a:ext cx="672814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Core Concept &amp; Approach: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3"/>
          <p:cNvSpPr txBox="1"/>
          <p:nvPr/>
        </p:nvSpPr>
        <p:spPr>
          <a:xfrm>
            <a:off x="923925" y="3694509"/>
            <a:ext cx="5172967" cy="661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Describe your solution clearly in brief bullet points. Explain how your software/hardware prototype directly addresses the problem statement requirements.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"/>
          <p:cNvSpPr txBox="1"/>
          <p:nvPr/>
        </p:nvSpPr>
        <p:spPr>
          <a:xfrm>
            <a:off x="7249417" y="2863453"/>
            <a:ext cx="4479622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Innovation &amp; Uniqueness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3"/>
          <p:cNvSpPr txBox="1"/>
          <p:nvPr/>
        </p:nvSpPr>
        <p:spPr>
          <a:xfrm>
            <a:off x="6935092" y="3244453"/>
            <a:ext cx="5256907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Key Differentiators: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3"/>
          <p:cNvSpPr txBox="1"/>
          <p:nvPr/>
        </p:nvSpPr>
        <p:spPr>
          <a:xfrm>
            <a:off x="7087492" y="3694509"/>
            <a:ext cx="4275832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Highlight key factors that make your project unique compared to existing solutions in industry or research.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3" title="110b2eab-5352-4831-9ee3-deb85c4bbeef_workshops--1-.png"/>
          <p:cNvPicPr preferRelativeResize="0"/>
          <p:nvPr/>
        </p:nvPicPr>
        <p:blipFill rotWithShape="1">
          <a:blip r:embed="rId5">
            <a:alphaModFix/>
          </a:blip>
          <a:srcRect b="0" l="4841" r="4841" t="0"/>
          <a:stretch/>
        </p:blipFill>
        <p:spPr>
          <a:xfrm>
            <a:off x="267658" y="161763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" title="WhatsApp Image 2026-10-03 at 11.28.59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103" y="143191"/>
            <a:ext cx="807352" cy="80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"/>
          <p:cNvSpPr/>
          <p:nvPr/>
        </p:nvSpPr>
        <p:spPr>
          <a:xfrm>
            <a:off x="495300" y="3429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/>
          <p:nvPr/>
        </p:nvSpPr>
        <p:spPr>
          <a:xfrm>
            <a:off x="495300" y="1057275"/>
            <a:ext cx="11201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4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495300" y="2303859"/>
            <a:ext cx="5004941" cy="2697956"/>
          </a:xfrm>
          <a:prstGeom prst="roundRect">
            <a:avLst>
              <a:gd fmla="val 2824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5690741" y="2303859"/>
            <a:ext cx="6005958" cy="2697956"/>
          </a:xfrm>
          <a:prstGeom prst="roundRect">
            <a:avLst>
              <a:gd fmla="val 2824" name="adj"/>
            </a:avLst>
          </a:prstGeom>
          <a:solidFill>
            <a:srgbClr val="F8FAFC"/>
          </a:solidFill>
          <a:ln cap="flat" cmpd="sng" w="1905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495300" y="4992290"/>
            <a:ext cx="50049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/>
          <p:nvPr/>
        </p:nvSpPr>
        <p:spPr>
          <a:xfrm>
            <a:off x="495300" y="2303859"/>
            <a:ext cx="5004941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495300" y="2303859"/>
            <a:ext cx="9525" cy="26979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5490716" y="2303859"/>
            <a:ext cx="9525" cy="269795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771525" y="3027759"/>
            <a:ext cx="4452491" cy="1735931"/>
          </a:xfrm>
          <a:prstGeom prst="roundRect">
            <a:avLst>
              <a:gd fmla="val 329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1" name="Google Shape;20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69808" y="3205162"/>
            <a:ext cx="447675" cy="400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2618184"/>
            <a:ext cx="21907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4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[ Team No.]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4"/>
          <p:cNvSpPr txBox="1"/>
          <p:nvPr/>
        </p:nvSpPr>
        <p:spPr>
          <a:xfrm>
            <a:off x="10801350" y="6353175"/>
            <a:ext cx="11811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03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1167556" y="342900"/>
            <a:ext cx="68580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1167556" y="523875"/>
            <a:ext cx="586073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TECHNICAL APPROACH &amp; ARCHITECTURE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1085850" y="2570559"/>
            <a:ext cx="4445086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Technology Stack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 txBox="1"/>
          <p:nvPr/>
        </p:nvSpPr>
        <p:spPr>
          <a:xfrm>
            <a:off x="7056536" y="3719512"/>
            <a:ext cx="327421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System Architecture / Flow Diagram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4"/>
          <p:cNvSpPr txBox="1"/>
          <p:nvPr/>
        </p:nvSpPr>
        <p:spPr>
          <a:xfrm>
            <a:off x="5455146" y="3948112"/>
            <a:ext cx="6477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Insert workflow diagram, block architecture, or UI screenshot here for quick evaluation.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1028700" y="3152775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1104900" y="3151584"/>
            <a:ext cx="49464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Frontend: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React / Flutter / HTML5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 txBox="1"/>
          <p:nvPr/>
        </p:nvSpPr>
        <p:spPr>
          <a:xfrm>
            <a:off x="1028700" y="3450431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4"/>
          <p:cNvSpPr txBox="1"/>
          <p:nvPr/>
        </p:nvSpPr>
        <p:spPr>
          <a:xfrm>
            <a:off x="1104900" y="3449240"/>
            <a:ext cx="49464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Backend: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Node.js / Python FastAPI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1028700" y="3748087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1104900" y="3746896"/>
            <a:ext cx="49464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Database: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PostgreSQL / MongoDB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 txBox="1"/>
          <p:nvPr/>
        </p:nvSpPr>
        <p:spPr>
          <a:xfrm>
            <a:off x="1028700" y="4045743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1104900" y="4044553"/>
            <a:ext cx="49464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Hardware/IoT: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ESP32 / Sensors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4"/>
          <p:cNvSpPr txBox="1"/>
          <p:nvPr/>
        </p:nvSpPr>
        <p:spPr>
          <a:xfrm>
            <a:off x="1028700" y="4343400"/>
            <a:ext cx="76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1104900" y="4342209"/>
            <a:ext cx="4946488" cy="22145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AI / Cloud: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PyTorch / OpenCV / AWS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0" name="Google Shape;220;p4" title="110b2eab-5352-4831-9ee3-deb85c4bbeef_workshops--1-.png"/>
          <p:cNvPicPr preferRelativeResize="0"/>
          <p:nvPr/>
        </p:nvPicPr>
        <p:blipFill rotWithShape="1">
          <a:blip r:embed="rId5">
            <a:alphaModFix/>
          </a:blip>
          <a:srcRect b="0" l="4841" r="4841" t="0"/>
          <a:stretch/>
        </p:blipFill>
        <p:spPr>
          <a:xfrm>
            <a:off x="288032" y="146792"/>
            <a:ext cx="732609" cy="811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4" title="WhatsApp Image 2026-10-03 at 11.28.59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103" y="134319"/>
            <a:ext cx="807352" cy="80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5"/>
          <p:cNvSpPr/>
          <p:nvPr/>
        </p:nvSpPr>
        <p:spPr>
          <a:xfrm>
            <a:off x="495300" y="3429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/>
          <p:nvPr/>
        </p:nvSpPr>
        <p:spPr>
          <a:xfrm>
            <a:off x="495300" y="1057275"/>
            <a:ext cx="11201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/>
          <p:nvPr/>
        </p:nvSpPr>
        <p:spPr>
          <a:xfrm>
            <a:off x="1049740" y="2726525"/>
            <a:ext cx="4723800" cy="1852500"/>
          </a:xfrm>
          <a:prstGeom prst="roundRect">
            <a:avLst>
              <a:gd fmla="val 411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5"/>
          <p:cNvSpPr/>
          <p:nvPr/>
        </p:nvSpPr>
        <p:spPr>
          <a:xfrm>
            <a:off x="6374642" y="2726525"/>
            <a:ext cx="4723800" cy="1852500"/>
          </a:xfrm>
          <a:prstGeom prst="roundRect">
            <a:avLst>
              <a:gd fmla="val 411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964442" y="4569618"/>
            <a:ext cx="35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1064623" y="2726520"/>
            <a:ext cx="4659600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1024129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/>
          <p:nvPr/>
        </p:nvSpPr>
        <p:spPr>
          <a:xfrm>
            <a:off x="5763688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5"/>
          <p:cNvSpPr/>
          <p:nvPr/>
        </p:nvSpPr>
        <p:spPr>
          <a:xfrm>
            <a:off x="1240667" y="3450425"/>
            <a:ext cx="4141500" cy="890700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5"/>
          <p:cNvSpPr/>
          <p:nvPr/>
        </p:nvSpPr>
        <p:spPr>
          <a:xfrm>
            <a:off x="6374642" y="4569612"/>
            <a:ext cx="4723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5"/>
          <p:cNvSpPr/>
          <p:nvPr/>
        </p:nvSpPr>
        <p:spPr>
          <a:xfrm>
            <a:off x="6374642" y="2726525"/>
            <a:ext cx="4723800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374642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11070639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6738992" y="3374225"/>
            <a:ext cx="4033200" cy="1066500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42" name="Google Shape;2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1943" y="304085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40725" y="304085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5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[ Team No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10810875" y="6353175"/>
            <a:ext cx="117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04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 txBox="1"/>
          <p:nvPr/>
        </p:nvSpPr>
        <p:spPr>
          <a:xfrm>
            <a:off x="1167556" y="342900"/>
            <a:ext cx="5274468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5"/>
          <p:cNvSpPr txBox="1"/>
          <p:nvPr/>
        </p:nvSpPr>
        <p:spPr>
          <a:xfrm>
            <a:off x="1167546" y="523875"/>
            <a:ext cx="72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METHODOLOGY AND MEASURABLE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5"/>
          <p:cNvSpPr txBox="1"/>
          <p:nvPr/>
        </p:nvSpPr>
        <p:spPr>
          <a:xfrm>
            <a:off x="1526417" y="2993231"/>
            <a:ext cx="29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Methodology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1393067" y="3564725"/>
            <a:ext cx="3931200" cy="12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Explain the proposed solution’s working process, key stages, data flow, and how it addresses the identified problem and achieves the intended outcomes.</a:t>
            </a:r>
            <a:endParaRPr b="0" i="0" sz="1125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5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7115884" y="2993225"/>
            <a:ext cx="3931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Measurable Impact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6939996" y="3488525"/>
            <a:ext cx="3718800" cy="8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5"/>
              <a:buFont typeface="Arial"/>
              <a:buNone/>
            </a:pPr>
            <a:r>
              <a:rPr b="0" i="0" lang="en-US" sz="10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Include measurable performance indicators such as accuracy, precision, recall, F1-score, response time, efficiency, cost savings, or error reduction, wherever applicable. </a:t>
            </a:r>
            <a:endParaRPr b="0" i="0" sz="1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2" name="Google Shape;252;p5" title="110b2eab-5352-4831-9ee3-deb85c4bbeef_workshops--1-.png"/>
          <p:cNvPicPr preferRelativeResize="0"/>
          <p:nvPr/>
        </p:nvPicPr>
        <p:blipFill rotWithShape="1">
          <a:blip r:embed="rId5">
            <a:alphaModFix/>
          </a:blip>
          <a:srcRect b="0" l="4841" r="4841" t="0"/>
          <a:stretch/>
        </p:blipFill>
        <p:spPr>
          <a:xfrm>
            <a:off x="296012" y="152521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5" title="WhatsApp Image 2026-10-03 at 11.28.59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36103" y="143191"/>
            <a:ext cx="807352" cy="80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"/>
          <p:cNvSpPr/>
          <p:nvPr/>
        </p:nvSpPr>
        <p:spPr>
          <a:xfrm>
            <a:off x="495300" y="342900"/>
            <a:ext cx="11201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495300" y="6229350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495300" y="1057275"/>
            <a:ext cx="11201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495300" y="6229350"/>
            <a:ext cx="1120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1049740" y="2726525"/>
            <a:ext cx="4723800" cy="1852500"/>
          </a:xfrm>
          <a:prstGeom prst="roundRect">
            <a:avLst>
              <a:gd fmla="val 411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964442" y="4569618"/>
            <a:ext cx="35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1064623" y="2726520"/>
            <a:ext cx="4659600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1024129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5763688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1240667" y="3450425"/>
            <a:ext cx="4141500" cy="890700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6374642" y="4569612"/>
            <a:ext cx="47238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69" name="Google Shape;2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31943" y="304085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6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[ Team No.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 txBox="1"/>
          <p:nvPr/>
        </p:nvSpPr>
        <p:spPr>
          <a:xfrm>
            <a:off x="10810875" y="6353175"/>
            <a:ext cx="117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05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1167556" y="342900"/>
            <a:ext cx="527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1167546" y="523875"/>
            <a:ext cx="722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1526417" y="2993231"/>
            <a:ext cx="29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1393067" y="3564725"/>
            <a:ext cx="3931200" cy="12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Explain the proposed solution’s working process, key stages, data flow, and how it addresses the identified problem and achieves the intended outcomes.</a:t>
            </a:r>
            <a:endParaRPr b="0" i="0" sz="1125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l">
              <a:lnSpc>
                <a:spcPct val="149955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t/>
            </a:r>
            <a:endParaRPr b="0" i="0" sz="1125" u="none" cap="none" strike="noStrike">
              <a:solidFill>
                <a:srgbClr val="1E293B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276" name="Google Shape;276;p6" title="110b2eab-5352-4831-9ee3-deb85c4bbeef_workshops--1-.png"/>
          <p:cNvPicPr preferRelativeResize="0"/>
          <p:nvPr/>
        </p:nvPicPr>
        <p:blipFill rotWithShape="1">
          <a:blip r:embed="rId4">
            <a:alphaModFix/>
          </a:blip>
          <a:srcRect b="0" l="4841" r="4841" t="0"/>
          <a:stretch/>
        </p:blipFill>
        <p:spPr>
          <a:xfrm>
            <a:off x="296012" y="152521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6" title="WhatsApp Image 2026-10-03 at 11.28.59 PM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36103" y="143191"/>
            <a:ext cx="807352" cy="80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7"/>
          <p:cNvSpPr/>
          <p:nvPr/>
        </p:nvSpPr>
        <p:spPr>
          <a:xfrm>
            <a:off x="495300" y="342900"/>
            <a:ext cx="112014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495300" y="6229350"/>
            <a:ext cx="112014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495300" y="1057275"/>
            <a:ext cx="11201400" cy="1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495300" y="6229350"/>
            <a:ext cx="1120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495300" y="2726531"/>
            <a:ext cx="3581400" cy="1852500"/>
          </a:xfrm>
          <a:prstGeom prst="roundRect">
            <a:avLst>
              <a:gd fmla="val 411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4305300" y="2726531"/>
            <a:ext cx="3581400" cy="1852500"/>
          </a:xfrm>
          <a:prstGeom prst="roundRect">
            <a:avLst>
              <a:gd fmla="val 411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7"/>
          <p:cNvSpPr/>
          <p:nvPr/>
        </p:nvSpPr>
        <p:spPr>
          <a:xfrm>
            <a:off x="8115300" y="2726531"/>
            <a:ext cx="3581400" cy="1852500"/>
          </a:xfrm>
          <a:prstGeom prst="roundRect">
            <a:avLst>
              <a:gd fmla="val 4113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495300" y="4569618"/>
            <a:ext cx="35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495300" y="2726531"/>
            <a:ext cx="3581400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7"/>
          <p:cNvSpPr/>
          <p:nvPr/>
        </p:nvSpPr>
        <p:spPr>
          <a:xfrm>
            <a:off x="495300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4067175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771525" y="3450431"/>
            <a:ext cx="3029100" cy="890700"/>
          </a:xfrm>
          <a:prstGeom prst="roundRect">
            <a:avLst>
              <a:gd fmla="val 641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7"/>
          <p:cNvSpPr/>
          <p:nvPr/>
        </p:nvSpPr>
        <p:spPr>
          <a:xfrm>
            <a:off x="4305300" y="4569618"/>
            <a:ext cx="35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4305300" y="2726531"/>
            <a:ext cx="3581400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4305300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7"/>
          <p:cNvSpPr/>
          <p:nvPr/>
        </p:nvSpPr>
        <p:spPr>
          <a:xfrm>
            <a:off x="7877175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4581525" y="3450431"/>
            <a:ext cx="3029100" cy="676200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8115300" y="4569618"/>
            <a:ext cx="3581400" cy="96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7"/>
          <p:cNvSpPr/>
          <p:nvPr/>
        </p:nvSpPr>
        <p:spPr>
          <a:xfrm>
            <a:off x="8115300" y="2726531"/>
            <a:ext cx="3581400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8115300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11687175" y="2726531"/>
            <a:ext cx="9600" cy="18525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7"/>
          <p:cNvSpPr/>
          <p:nvPr/>
        </p:nvSpPr>
        <p:spPr>
          <a:xfrm>
            <a:off x="8391525" y="3450431"/>
            <a:ext cx="3029100" cy="676200"/>
          </a:xfrm>
          <a:prstGeom prst="roundRect">
            <a:avLst>
              <a:gd fmla="val 845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4" name="Google Shape;30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304085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81525" y="3040856"/>
            <a:ext cx="19050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391525" y="304085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7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[ Team No.]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7"/>
          <p:cNvSpPr txBox="1"/>
          <p:nvPr/>
        </p:nvSpPr>
        <p:spPr>
          <a:xfrm>
            <a:off x="10810875" y="6353175"/>
            <a:ext cx="11715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06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7"/>
          <p:cNvSpPr txBox="1"/>
          <p:nvPr/>
        </p:nvSpPr>
        <p:spPr>
          <a:xfrm>
            <a:off x="1167556" y="342900"/>
            <a:ext cx="52746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7"/>
          <p:cNvSpPr txBox="1"/>
          <p:nvPr/>
        </p:nvSpPr>
        <p:spPr>
          <a:xfrm>
            <a:off x="1167556" y="523875"/>
            <a:ext cx="453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FEASIBILITY &amp; RISK MITIGATION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7"/>
          <p:cNvSpPr txBox="1"/>
          <p:nvPr/>
        </p:nvSpPr>
        <p:spPr>
          <a:xfrm>
            <a:off x="1057275" y="2993231"/>
            <a:ext cx="29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Feasibility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7"/>
          <p:cNvSpPr txBox="1"/>
          <p:nvPr/>
        </p:nvSpPr>
        <p:spPr>
          <a:xfrm>
            <a:off x="923925" y="3564731"/>
            <a:ext cx="2819400" cy="6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Demonstrate why your solution is realistic to build within the hackathon timeline and tech constraints.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7"/>
          <p:cNvSpPr txBox="1"/>
          <p:nvPr/>
        </p:nvSpPr>
        <p:spPr>
          <a:xfrm>
            <a:off x="4867275" y="2993231"/>
            <a:ext cx="29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Potential Risks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7"/>
          <p:cNvSpPr txBox="1"/>
          <p:nvPr/>
        </p:nvSpPr>
        <p:spPr>
          <a:xfrm>
            <a:off x="4733925" y="3564731"/>
            <a:ext cx="28194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Identify potential technical bottlenecks, data limitations, or deployment hurdles.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7"/>
          <p:cNvSpPr txBox="1"/>
          <p:nvPr/>
        </p:nvSpPr>
        <p:spPr>
          <a:xfrm>
            <a:off x="8677275" y="2993231"/>
            <a:ext cx="29805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Mitigation Plan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7"/>
          <p:cNvSpPr txBox="1"/>
          <p:nvPr/>
        </p:nvSpPr>
        <p:spPr>
          <a:xfrm>
            <a:off x="8543925" y="3564731"/>
            <a:ext cx="28194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Provide actionable fallback strategies to bypass or solve the identified risks.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7" title="110b2eab-5352-4831-9ee3-deb85c4bbeef_workshops--1-.png"/>
          <p:cNvPicPr preferRelativeResize="0"/>
          <p:nvPr/>
        </p:nvPicPr>
        <p:blipFill rotWithShape="1">
          <a:blip r:embed="rId6">
            <a:alphaModFix/>
          </a:blip>
          <a:srcRect b="0" l="4841" r="4841" t="0"/>
          <a:stretch/>
        </p:blipFill>
        <p:spPr>
          <a:xfrm>
            <a:off x="296012" y="152521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7" title="WhatsApp Image 2026-10-03 at 11.28.59 PM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36103" y="143191"/>
            <a:ext cx="807352" cy="80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3F3F3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8"/>
          <p:cNvSpPr/>
          <p:nvPr/>
        </p:nvSpPr>
        <p:spPr>
          <a:xfrm>
            <a:off x="495300" y="342900"/>
            <a:ext cx="11201400" cy="7334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495300" y="6229350"/>
            <a:ext cx="112014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495300" y="1057275"/>
            <a:ext cx="112014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495300" y="1266825"/>
            <a:ext cx="11201400" cy="4772025"/>
          </a:xfrm>
          <a:prstGeom prst="roundRect">
            <a:avLst>
              <a:gd fmla="val 1596" name="adj"/>
            </a:avLst>
          </a:prstGeom>
          <a:solidFill>
            <a:srgbClr val="F8FAF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495300" y="622935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495300" y="6029325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95300" y="1266825"/>
            <a:ext cx="11201400" cy="38100"/>
          </a:xfrm>
          <a:prstGeom prst="rect">
            <a:avLst/>
          </a:prstGeom>
          <a:solidFill>
            <a:srgbClr val="C5221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8"/>
          <p:cNvSpPr/>
          <p:nvPr/>
        </p:nvSpPr>
        <p:spPr>
          <a:xfrm>
            <a:off x="495300" y="1266825"/>
            <a:ext cx="9525" cy="4772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11687175" y="1266825"/>
            <a:ext cx="9525" cy="47720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771525" y="1990725"/>
            <a:ext cx="10648950" cy="1247775"/>
          </a:xfrm>
          <a:prstGeom prst="roundRect">
            <a:avLst>
              <a:gd fmla="val 458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33" name="Google Shape;33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1525" y="1581150"/>
            <a:ext cx="17145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8"/>
          <p:cNvSpPr txBox="1"/>
          <p:nvPr/>
        </p:nvSpPr>
        <p:spPr>
          <a:xfrm>
            <a:off x="495300" y="6353175"/>
            <a:ext cx="12288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[ Team No. 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8"/>
          <p:cNvSpPr txBox="1"/>
          <p:nvPr/>
        </p:nvSpPr>
        <p:spPr>
          <a:xfrm>
            <a:off x="10810875" y="6353175"/>
            <a:ext cx="117157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Slide 07 of 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8"/>
          <p:cNvSpPr txBox="1"/>
          <p:nvPr/>
        </p:nvSpPr>
        <p:spPr>
          <a:xfrm>
            <a:off x="1167556" y="342900"/>
            <a:ext cx="4203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C5221F"/>
                </a:solidFill>
                <a:latin typeface="Inter"/>
                <a:ea typeface="Inter"/>
                <a:cs typeface="Inter"/>
                <a:sym typeface="Inter"/>
              </a:rPr>
              <a:t>SECTION 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8"/>
          <p:cNvSpPr txBox="1"/>
          <p:nvPr/>
        </p:nvSpPr>
        <p:spPr>
          <a:xfrm>
            <a:off x="1167556" y="523875"/>
            <a:ext cx="363045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RESEARCH &amp; REFERENCES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8"/>
          <p:cNvSpPr txBox="1"/>
          <p:nvPr/>
        </p:nvSpPr>
        <p:spPr>
          <a:xfrm>
            <a:off x="1038225" y="1533525"/>
            <a:ext cx="11001375" cy="285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Reference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8"/>
          <p:cNvSpPr txBox="1"/>
          <p:nvPr/>
        </p:nvSpPr>
        <p:spPr>
          <a:xfrm>
            <a:off x="1047750" y="2114550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8"/>
          <p:cNvSpPr txBox="1"/>
          <p:nvPr/>
        </p:nvSpPr>
        <p:spPr>
          <a:xfrm>
            <a:off x="1123950" y="2114550"/>
            <a:ext cx="11068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Dataset Sources: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Specify repository links used for training or validation (e.g., Kaggle, Govt Open Data).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8"/>
          <p:cNvSpPr txBox="1"/>
          <p:nvPr/>
        </p:nvSpPr>
        <p:spPr>
          <a:xfrm>
            <a:off x="1047750" y="2447925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8"/>
          <p:cNvSpPr txBox="1"/>
          <p:nvPr/>
        </p:nvSpPr>
        <p:spPr>
          <a:xfrm>
            <a:off x="1123950" y="2447925"/>
            <a:ext cx="11068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Research Papers / Patent References: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Cite relevant research papers, documentation, or patents consulted.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8"/>
          <p:cNvSpPr txBox="1"/>
          <p:nvPr/>
        </p:nvSpPr>
        <p:spPr>
          <a:xfrm>
            <a:off x="1047750" y="2781300"/>
            <a:ext cx="762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8"/>
          <p:cNvSpPr txBox="1"/>
          <p:nvPr/>
        </p:nvSpPr>
        <p:spPr>
          <a:xfrm>
            <a:off x="1123950" y="2781300"/>
            <a:ext cx="110680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7620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5"/>
              <a:buFont typeface="Arial"/>
              <a:buNone/>
            </a:pPr>
            <a:r>
              <a:rPr b="1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Open Source Libraries &amp; APIs:</a:t>
            </a:r>
            <a:r>
              <a:rPr b="0" i="0" lang="en-US" sz="1125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List key open-source models, frameworks, or APIs utilized.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5" name="Google Shape;345;p8" title="110b2eab-5352-4831-9ee3-deb85c4bbeef_workshops--1-.png"/>
          <p:cNvPicPr preferRelativeResize="0"/>
          <p:nvPr/>
        </p:nvPicPr>
        <p:blipFill rotWithShape="1">
          <a:blip r:embed="rId4">
            <a:alphaModFix/>
          </a:blip>
          <a:srcRect b="0" l="4841" r="4841" t="0"/>
          <a:stretch/>
        </p:blipFill>
        <p:spPr>
          <a:xfrm>
            <a:off x="288877" y="165197"/>
            <a:ext cx="734775" cy="813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8" title="WhatsApp Image 2026-10-03 at 11.28.59 PM.jpe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00616" y="134319"/>
            <a:ext cx="807352" cy="8073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